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2" r:id="rId5"/>
    <p:sldId id="275" r:id="rId6"/>
    <p:sldId id="276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6" r:id="rId17"/>
    <p:sldId id="305" r:id="rId18"/>
    <p:sldId id="307" r:id="rId19"/>
    <p:sldId id="308" r:id="rId20"/>
    <p:sldId id="309" r:id="rId21"/>
    <p:sldId id="310" r:id="rId22"/>
    <p:sldId id="311" r:id="rId23"/>
    <p:sldId id="28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298" autoAdjust="0"/>
  </p:normalViewPr>
  <p:slideViewPr>
    <p:cSldViewPr snapToGrid="0" showGuides="1">
      <p:cViewPr varScale="1">
        <p:scale>
          <a:sx n="88" d="100"/>
          <a:sy n="88" d="100"/>
        </p:scale>
        <p:origin x="1470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Missing values in </a:t>
            </a:r>
            <a:r>
              <a:rPr lang="en-GB" noProof="0" dirty="0" err="1"/>
              <a:t>payment_frequency</a:t>
            </a:r>
            <a:r>
              <a:rPr lang="en-GB" noProof="0" dirty="0"/>
              <a:t> were explicitly encoded as a distinct 'missing' category</a:t>
            </a:r>
            <a:r>
              <a:rPr lang="sk-SK" noProof="0" dirty="0"/>
              <a:t>, </a:t>
            </a:r>
            <a:r>
              <a:rPr lang="sk-SK" dirty="0"/>
              <a:t>t</a:t>
            </a:r>
            <a:r>
              <a:rPr lang="en-GB" noProof="0" dirty="0"/>
              <a:t>his allows the machine learning algorithm to capture the absence of information as a potentially meaningful risk driver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4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Segmented the dataset into standalone subsets to allow machine learning algorithms to isolate the unique risk drivers inherent to each coverage line.</a:t>
            </a:r>
            <a:endParaRPr lang="sk-SK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commercial insurance, a business can purchase an Auto Liability (AL) policy even if they own zero vehicles. It protects a business if an employee drives their own personal car for work errands (like a delivery driver or salesperson) and gets into an accident. However, a business should never have a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vehicle_count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 on an Auto Physical Damage (APD) line, because APD strictly insures the physical body of cars owned by the business.</a:t>
            </a:r>
            <a:endParaRPr lang="sk-SK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negative premium is an impossible anomaly in a static risk-scoring snapshot and was removed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of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preserve model stability.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1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dirty="0" err="1"/>
              <a:t>Reasons</a:t>
            </a:r>
            <a:endParaRPr lang="sk-SK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k-SK" dirty="0" err="1"/>
              <a:t>Based</a:t>
            </a:r>
            <a:r>
              <a:rPr lang="sk-SK" dirty="0"/>
              <a:t> on </a:t>
            </a:r>
            <a:r>
              <a:rPr lang="sk-SK" dirty="0" err="1"/>
              <a:t>boxplots</a:t>
            </a:r>
            <a:r>
              <a:rPr lang="sk-SK" dirty="0"/>
              <a:t> and </a:t>
            </a:r>
            <a:r>
              <a:rPr lang="sk-SK" dirty="0" err="1"/>
              <a:t>Mutual</a:t>
            </a:r>
            <a:r>
              <a:rPr lang="sk-SK" dirty="0"/>
              <a:t> </a:t>
            </a:r>
            <a:r>
              <a:rPr lang="sk-SK" dirty="0" err="1"/>
              <a:t>information</a:t>
            </a:r>
            <a:r>
              <a:rPr lang="sk-SK" dirty="0"/>
              <a:t>. </a:t>
            </a:r>
            <a:r>
              <a:rPr lang="en-GB" dirty="0"/>
              <a:t>Removing them reduces model complexity and eliminates statistical noise.</a:t>
            </a:r>
            <a:r>
              <a:rPr lang="sk-SK" dirty="0"/>
              <a:t> </a:t>
            </a:r>
            <a:r>
              <a:rPr lang="en-GB" dirty="0"/>
              <a:t>Premium pricing already reflects known risk. Using it as a feature means the model is trying to predict claims using a variable that was created to expect those same claims.</a:t>
            </a:r>
            <a:endParaRPr lang="sk-SK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k-SK" dirty="0" err="1"/>
              <a:t>Due</a:t>
            </a:r>
            <a:r>
              <a:rPr lang="sk-SK" dirty="0"/>
              <a:t> to </a:t>
            </a:r>
            <a:r>
              <a:rPr lang="sk-SK" dirty="0" err="1"/>
              <a:t>data</a:t>
            </a:r>
            <a:r>
              <a:rPr lang="sk-SK" dirty="0"/>
              <a:t> leakage </a:t>
            </a:r>
            <a:r>
              <a:rPr lang="en-GB" dirty="0"/>
              <a:t>by providing post-inception claim information. Including it would cause the model to rely on future outcomes, making it useless when evaluating new applicants.</a:t>
            </a:r>
            <a:endParaRPr lang="sk-SK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k-SK" dirty="0"/>
              <a:t>Missing in </a:t>
            </a:r>
            <a:r>
              <a:rPr lang="sk-SK" dirty="0" err="1"/>
              <a:t>score</a:t>
            </a:r>
            <a:r>
              <a:rPr lang="sk-SK" dirty="0"/>
              <a:t> </a:t>
            </a:r>
            <a:r>
              <a:rPr lang="sk-SK" dirty="0" err="1"/>
              <a:t>dataset</a:t>
            </a:r>
            <a:endParaRPr lang="sk-SK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sk-SK" dirty="0"/>
              <a:t>P</a:t>
            </a:r>
            <a:r>
              <a:rPr lang="en-GB" dirty="0" err="1"/>
              <a:t>ost</a:t>
            </a:r>
            <a:r>
              <a:rPr lang="en-GB" dirty="0"/>
              <a:t>-inception metrics known only after claim resolution</a:t>
            </a:r>
            <a:r>
              <a:rPr lang="sk-SK" dirty="0"/>
              <a:t>,</a:t>
            </a:r>
            <a:r>
              <a:rPr lang="en-GB" dirty="0"/>
              <a:t> </a:t>
            </a:r>
            <a:r>
              <a:rPr lang="sk-SK" dirty="0"/>
              <a:t>b</a:t>
            </a:r>
            <a:r>
              <a:rPr lang="en-GB" dirty="0" err="1"/>
              <a:t>ecause</a:t>
            </a:r>
            <a:r>
              <a:rPr lang="en-GB" dirty="0"/>
              <a:t> of that we will drop them to prevent look-ahead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55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Since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model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Logistic</a:t>
            </a:r>
            <a:r>
              <a:rPr lang="sk-SK" dirty="0"/>
              <a:t> </a:t>
            </a:r>
            <a:r>
              <a:rPr lang="sk-SK" dirty="0" err="1"/>
              <a:t>regression</a:t>
            </a:r>
            <a:r>
              <a:rPr lang="sk-SK" dirty="0"/>
              <a:t> </a:t>
            </a:r>
            <a:r>
              <a:rPr lang="en-GB" dirty="0"/>
              <a:t>standardization</a:t>
            </a:r>
            <a:r>
              <a:rPr lang="sk-SK" dirty="0"/>
              <a:t> </a:t>
            </a:r>
            <a:r>
              <a:rPr lang="sk-SK" dirty="0" err="1"/>
              <a:t>is</a:t>
            </a:r>
            <a:r>
              <a:rPr lang="sk-SK" dirty="0"/>
              <a:t> </a:t>
            </a:r>
            <a:r>
              <a:rPr lang="sk-SK" dirty="0" err="1"/>
              <a:t>strictly</a:t>
            </a:r>
            <a:r>
              <a:rPr lang="sk-SK" dirty="0"/>
              <a:t> </a:t>
            </a:r>
            <a:r>
              <a:rPr lang="sk-SK" dirty="0" err="1"/>
              <a:t>mandatory</a:t>
            </a:r>
            <a:r>
              <a:rPr lang="sk-SK" dirty="0"/>
              <a:t> as 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uses</a:t>
            </a:r>
            <a:r>
              <a:rPr lang="sk-SK" dirty="0"/>
              <a:t> </a:t>
            </a:r>
            <a:r>
              <a:rPr lang="en-GB" dirty="0"/>
              <a:t>regularization </a:t>
            </a:r>
            <a:endParaRPr lang="sk-SK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k-SK" dirty="0"/>
              <a:t>As </a:t>
            </a:r>
            <a:r>
              <a:rPr lang="sk-SK" dirty="0" err="1"/>
              <a:t>many</a:t>
            </a:r>
            <a:r>
              <a:rPr lang="sk-SK" dirty="0"/>
              <a:t> </a:t>
            </a:r>
            <a:r>
              <a:rPr lang="sk-SK" dirty="0" err="1"/>
              <a:t>features</a:t>
            </a:r>
            <a:r>
              <a:rPr lang="sk-SK" dirty="0"/>
              <a:t> are </a:t>
            </a:r>
            <a:r>
              <a:rPr lang="sk-SK" dirty="0" err="1"/>
              <a:t>right-skeewed</a:t>
            </a:r>
            <a:r>
              <a:rPr lang="sk-SK" dirty="0"/>
              <a:t> and </a:t>
            </a:r>
            <a:r>
              <a:rPr lang="sk-SK" dirty="0" err="1"/>
              <a:t>contains</a:t>
            </a:r>
            <a:r>
              <a:rPr lang="sk-SK" dirty="0"/>
              <a:t> </a:t>
            </a:r>
            <a:r>
              <a:rPr lang="sk-SK" dirty="0" err="1"/>
              <a:t>outliers</a:t>
            </a:r>
            <a:r>
              <a:rPr lang="sk-SK" dirty="0"/>
              <a:t>, </a:t>
            </a:r>
            <a:r>
              <a:rPr lang="sk-SK" dirty="0" err="1"/>
              <a:t>we</a:t>
            </a:r>
            <a:r>
              <a:rPr lang="sk-SK" dirty="0"/>
              <a:t> </a:t>
            </a:r>
            <a:r>
              <a:rPr lang="sk-SK" dirty="0" err="1"/>
              <a:t>use</a:t>
            </a:r>
            <a:r>
              <a:rPr lang="sk-SK" dirty="0"/>
              <a:t> </a:t>
            </a:r>
            <a:r>
              <a:rPr lang="sk-SK" dirty="0" err="1"/>
              <a:t>natural</a:t>
            </a:r>
            <a:r>
              <a:rPr lang="sk-SK" dirty="0"/>
              <a:t> log </a:t>
            </a:r>
            <a:r>
              <a:rPr lang="sk-SK" dirty="0" err="1"/>
              <a:t>transformation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prior_loss_amount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annual_premium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prior_year_mileage_000,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vehicle_count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driver_count</a:t>
            </a:r>
            <a:endParaRPr lang="sk-SK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scaler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k-S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</a:t>
            </a:r>
            <a:r>
              <a:rPr lang="sk-S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IQR</a:t>
            </a:r>
            <a:endParaRPr lang="sk-SK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dirty="0" err="1"/>
              <a:t>Used</a:t>
            </a:r>
            <a:r>
              <a:rPr lang="sk-SK" dirty="0"/>
              <a:t> </a:t>
            </a:r>
            <a:r>
              <a:rPr lang="sk-SK" dirty="0" err="1"/>
              <a:t>one</a:t>
            </a:r>
            <a:r>
              <a:rPr lang="sk-SK" dirty="0"/>
              <a:t>-hot </a:t>
            </a:r>
            <a:r>
              <a:rPr lang="sk-SK" dirty="0" err="1"/>
              <a:t>encoding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business_type</a:t>
            </a:r>
            <a:r>
              <a:rPr lang="sk-SK" dirty="0"/>
              <a:t> and </a:t>
            </a:r>
            <a:r>
              <a:rPr lang="sk-SK" dirty="0" err="1"/>
              <a:t>payment_frequency</a:t>
            </a:r>
            <a:r>
              <a:rPr lang="sk-SK" dirty="0"/>
              <a:t> as </a:t>
            </a:r>
            <a:r>
              <a:rPr lang="sk-SK" dirty="0" err="1"/>
              <a:t>they</a:t>
            </a:r>
            <a:r>
              <a:rPr lang="sk-SK" dirty="0"/>
              <a:t> </a:t>
            </a:r>
            <a:r>
              <a:rPr lang="sk-SK" dirty="0" err="1"/>
              <a:t>have</a:t>
            </a:r>
            <a:r>
              <a:rPr lang="sk-SK" dirty="0"/>
              <a:t> </a:t>
            </a:r>
            <a:r>
              <a:rPr lang="sk-SK" dirty="0" err="1"/>
              <a:t>low</a:t>
            </a:r>
            <a:r>
              <a:rPr lang="sk-SK" dirty="0"/>
              <a:t> </a:t>
            </a:r>
            <a:r>
              <a:rPr lang="sk-SK" dirty="0" err="1"/>
              <a:t>cardinality</a:t>
            </a:r>
            <a:r>
              <a:rPr lang="sk-SK" dirty="0"/>
              <a:t> and are </a:t>
            </a:r>
            <a:r>
              <a:rPr lang="sk-SK" dirty="0" err="1"/>
              <a:t>nominal</a:t>
            </a:r>
            <a:r>
              <a:rPr lang="sk-SK" dirty="0"/>
              <a:t> (</a:t>
            </a:r>
            <a:r>
              <a:rPr lang="sk-SK" dirty="0" err="1"/>
              <a:t>you</a:t>
            </a:r>
            <a:r>
              <a:rPr lang="sk-SK" dirty="0"/>
              <a:t> </a:t>
            </a:r>
            <a:r>
              <a:rPr lang="sk-SK" dirty="0" err="1"/>
              <a:t>can</a:t>
            </a:r>
            <a:r>
              <a:rPr lang="sk-SK" dirty="0"/>
              <a:t> </a:t>
            </a:r>
            <a:r>
              <a:rPr lang="sk-SK" dirty="0" err="1"/>
              <a:t>not</a:t>
            </a:r>
            <a:r>
              <a:rPr lang="sk-SK" dirty="0"/>
              <a:t> </a:t>
            </a:r>
            <a:r>
              <a:rPr lang="sk-SK" dirty="0" err="1"/>
              <a:t>order</a:t>
            </a:r>
            <a:r>
              <a:rPr lang="sk-SK" dirty="0"/>
              <a:t> </a:t>
            </a:r>
            <a:r>
              <a:rPr lang="sk-SK" dirty="0" err="1"/>
              <a:t>them</a:t>
            </a:r>
            <a:r>
              <a:rPr lang="sk-SK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dirty="0"/>
              <a:t>To </a:t>
            </a:r>
            <a:r>
              <a:rPr lang="sk-SK" dirty="0" err="1"/>
              <a:t>avoid</a:t>
            </a:r>
            <a:r>
              <a:rPr lang="sk-SK" dirty="0"/>
              <a:t> </a:t>
            </a:r>
            <a:r>
              <a:rPr lang="sk-SK" dirty="0" err="1"/>
              <a:t>creating</a:t>
            </a:r>
            <a:r>
              <a:rPr lang="sk-SK" dirty="0"/>
              <a:t> 12 </a:t>
            </a:r>
            <a:r>
              <a:rPr lang="sk-SK" dirty="0" err="1"/>
              <a:t>dummy</a:t>
            </a:r>
            <a:r>
              <a:rPr lang="sk-SK" dirty="0"/>
              <a:t> </a:t>
            </a:r>
            <a:r>
              <a:rPr lang="sk-SK" dirty="0" err="1"/>
              <a:t>variables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states</a:t>
            </a:r>
            <a:r>
              <a:rPr lang="sk-SK" dirty="0"/>
              <a:t> I </a:t>
            </a:r>
            <a:r>
              <a:rPr lang="sk-SK" dirty="0" err="1"/>
              <a:t>decided</a:t>
            </a:r>
            <a:r>
              <a:rPr lang="sk-SK" dirty="0"/>
              <a:t> to </a:t>
            </a:r>
            <a:r>
              <a:rPr lang="sk-SK" dirty="0" err="1"/>
              <a:t>use</a:t>
            </a:r>
            <a:r>
              <a:rPr lang="sk-SK" dirty="0"/>
              <a:t> </a:t>
            </a:r>
            <a:r>
              <a:rPr lang="sk-SK" dirty="0" err="1"/>
              <a:t>target</a:t>
            </a:r>
            <a:r>
              <a:rPr lang="sk-SK" dirty="0"/>
              <a:t> </a:t>
            </a:r>
            <a:r>
              <a:rPr lang="sk-SK" dirty="0" err="1"/>
              <a:t>encoding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states</a:t>
            </a:r>
            <a:r>
              <a:rPr lang="sk-SK" dirty="0"/>
              <a:t> – </a:t>
            </a:r>
            <a:r>
              <a:rPr lang="sk-SK" dirty="0" err="1"/>
              <a:t>it</a:t>
            </a:r>
            <a:r>
              <a:rPr lang="sk-SK" dirty="0"/>
              <a:t> </a:t>
            </a:r>
            <a:r>
              <a:rPr lang="sk-SK" dirty="0" err="1"/>
              <a:t>replaces</a:t>
            </a:r>
            <a:r>
              <a:rPr lang="sk-SK" dirty="0"/>
              <a:t> </a:t>
            </a:r>
            <a:r>
              <a:rPr lang="sk-SK" dirty="0" err="1"/>
              <a:t>values</a:t>
            </a:r>
            <a:r>
              <a:rPr lang="sk-SK" dirty="0"/>
              <a:t> </a:t>
            </a:r>
            <a:r>
              <a:rPr lang="sk-SK" dirty="0" err="1"/>
              <a:t>with</a:t>
            </a:r>
            <a:r>
              <a:rPr lang="sk-SK" dirty="0"/>
              <a:t> </a:t>
            </a:r>
            <a:r>
              <a:rPr lang="sk-SK" dirty="0" err="1"/>
              <a:t>average</a:t>
            </a:r>
            <a:r>
              <a:rPr lang="sk-SK" dirty="0"/>
              <a:t> </a:t>
            </a:r>
            <a:r>
              <a:rPr lang="sk-SK" dirty="0" err="1"/>
              <a:t>value</a:t>
            </a:r>
            <a:r>
              <a:rPr lang="sk-SK" dirty="0"/>
              <a:t> of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target</a:t>
            </a:r>
            <a:r>
              <a:rPr lang="sk-SK" dirty="0"/>
              <a:t> </a:t>
            </a:r>
            <a:r>
              <a:rPr lang="sk-SK" dirty="0" err="1"/>
              <a:t>variable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each</a:t>
            </a:r>
            <a:r>
              <a:rPr lang="sk-SK" dirty="0"/>
              <a:t> </a:t>
            </a:r>
            <a:r>
              <a:rPr lang="sk-SK" dirty="0" err="1"/>
              <a:t>category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92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severe class imbalance in our dataset reflects the operational reality of commercial auto insurance: claims are low-frequency, high-severity events. This creates a significant challenge for standard classifiers. The confusion matrix shows that the model achieves </a:t>
            </a:r>
            <a:r>
              <a:rPr lang="sk-SK" dirty="0" err="1"/>
              <a:t>good</a:t>
            </a:r>
            <a:r>
              <a:rPr lang="en-GB" dirty="0"/>
              <a:t> overall accuracy simply by defaulting to 'No Claim' predictions. Consequently, the F1-score and recall for our actual target—policies that generate claims—are critically low.</a:t>
            </a:r>
            <a:r>
              <a:rPr lang="sk-SK" dirty="0"/>
              <a:t> </a:t>
            </a:r>
            <a:r>
              <a:rPr lang="en-GB" dirty="0"/>
              <a:t>To make this model commercially viable, we cannot use hard binary predictions. Instead, we must extract continuous risk probabilities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57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dirty="0"/>
              <a:t>T</a:t>
            </a:r>
            <a:r>
              <a:rPr lang="en-GB" dirty="0"/>
              <a:t>o enable independent execution and prevent code redundancy</a:t>
            </a:r>
            <a:endParaRPr lang="sk-SK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a real-world pipeline, data drift happens. The 2023–2024 scoring dataset introduces a new business type (rideshare) that did not exist in the 2020–2022 training data. A naive prototype notebook would instantly crash upon encountering this unseen string.</a:t>
            </a:r>
            <a:endParaRPr lang="sk-SK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87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77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1. Model validation &amp; governance (before any deployment decision)</a:t>
            </a:r>
            <a:endParaRPr lang="en-GB" dirty="0"/>
          </a:p>
          <a:p>
            <a:r>
              <a:rPr lang="en-GB" dirty="0"/>
              <a:t>Actuarial review of probability scores and their mapping to premium risk-loadings, within applicable state rate-filing constraints</a:t>
            </a:r>
          </a:p>
          <a:p>
            <a:r>
              <a:rPr lang="en-GB" dirty="0"/>
              <a:t>Regulatory/fairness review: test target-encoded state and </a:t>
            </a:r>
            <a:r>
              <a:rPr lang="en-GB" dirty="0" err="1"/>
              <a:t>business_type</a:t>
            </a:r>
            <a:r>
              <a:rPr lang="en-GB" dirty="0"/>
              <a:t> (and other </a:t>
            </a:r>
            <a:r>
              <a:rPr lang="en-GB" dirty="0" err="1"/>
              <a:t>categoricals</a:t>
            </a:r>
            <a:r>
              <a:rPr lang="en-GB" dirty="0"/>
              <a:t>) for proxy discrimination against protected characteristics; document non-discrimination justification per state insurance department requirements</a:t>
            </a:r>
          </a:p>
          <a:p>
            <a:r>
              <a:rPr lang="en-GB" dirty="0"/>
              <a:t>Produce a model card / documentation package: feature list, training population and date range, known limitations (e.g., zero-MI features excluded, rideshare underrepresented in training), performance by segment (APD vs. AL, by state, by business type)</a:t>
            </a:r>
            <a:endParaRPr lang="sk-SK" dirty="0"/>
          </a:p>
          <a:p>
            <a:r>
              <a:rPr lang="en-GB" b="1" dirty="0"/>
              <a:t>3. Live integration</a:t>
            </a:r>
            <a:endParaRPr lang="en-GB" dirty="0"/>
          </a:p>
          <a:p>
            <a:r>
              <a:rPr lang="en-GB" dirty="0"/>
              <a:t>Connect the API to the core underwriting portal so a broker entering a new fleet's attributes receives a live risk score within seconds</a:t>
            </a:r>
            <a:endParaRPr lang="sk-SK" dirty="0"/>
          </a:p>
          <a:p>
            <a:r>
              <a:rPr lang="en-GB" b="1" dirty="0"/>
              <a:t>4. Ongoing monitoring (post-launch, continuous)</a:t>
            </a:r>
            <a:endParaRPr lang="en-GB" dirty="0"/>
          </a:p>
          <a:p>
            <a:r>
              <a:rPr lang="en-GB" dirty="0"/>
              <a:t>Operational dashboards: inference latency, server errors, uptime</a:t>
            </a:r>
          </a:p>
          <a:p>
            <a:r>
              <a:rPr lang="en-GB" b="1" dirty="0"/>
              <a:t>Calibration monitoring</a:t>
            </a:r>
            <a:r>
              <a:rPr lang="en-GB" dirty="0"/>
              <a:t>: track predicted-vs-actual claim rates over time to detect drift in probability accuracy, not just prediction stability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5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32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GB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Commercial Auto Risk Scoring Case Study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/>
          <a:srcRect l="6522" r="6522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3D36B-1EBC-54DE-D365-7075C87FEC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noProof="0" dirty="0"/>
              <a:t>Andrej Šenkery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Agenda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noProof="0" dirty="0"/>
              <a:t>Exploratory Data Analysis (EDA)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noProof="0" dirty="0"/>
              <a:t>Modelling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noProof="0" dirty="0"/>
              <a:t>Production readiness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EDA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noProof="0" dirty="0"/>
              <a:t>During EDA I focused on exploring the training and scoring dataset to found any surprising patterns, outliers or missing values</a:t>
            </a:r>
          </a:p>
          <a:p>
            <a:endParaRPr lang="en-GB" noProof="0" dirty="0"/>
          </a:p>
          <a:p>
            <a:endParaRPr lang="en-GB" noProof="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/>
          <a:srcRect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DA9FAF-001F-0785-348B-893CC61C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types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BBF66BB-247C-E7E4-390B-9FE4322CE708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Ensures Correct Feature Interpretation: Prevents algorithms from misinterpreting data—such as treating date columns as meaningless strings instead of temporal formats</a:t>
            </a:r>
          </a:p>
          <a:p>
            <a:r>
              <a:rPr lang="en-GB" noProof="0" dirty="0"/>
              <a:t>Data Type Cleaning Discoveries:</a:t>
            </a:r>
          </a:p>
          <a:p>
            <a:pPr lvl="1"/>
            <a:r>
              <a:rPr lang="en-GB" noProof="0" dirty="0"/>
              <a:t>Converted raw date strings into datetime format to enable downstream feature engineering</a:t>
            </a:r>
          </a:p>
          <a:p>
            <a:pPr lvl="1"/>
            <a:r>
              <a:rPr lang="en-GB" noProof="0" dirty="0"/>
              <a:t>Standardized categorical strings by removing trailing whitespaces and fixing inconsistent capitalization to prevent the creation of duplicate, artificial categories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C2CDF-0B8B-436F-3851-0EFA80A8DCB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4</a:t>
            </a:fld>
            <a:endParaRPr lang="en-GB" noProof="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B9882D8-2CFE-F90E-27D3-9AA93826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17359"/>
              </p:ext>
            </p:extLst>
          </p:nvPr>
        </p:nvGraphicFramePr>
        <p:xfrm>
          <a:off x="1372507" y="4305982"/>
          <a:ext cx="3351894" cy="1060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4704">
                  <a:extLst>
                    <a:ext uri="{9D8B030D-6E8A-4147-A177-3AD203B41FA5}">
                      <a16:colId xmlns:a16="http://schemas.microsoft.com/office/drawing/2014/main" val="2703301056"/>
                    </a:ext>
                  </a:extLst>
                </a:gridCol>
                <a:gridCol w="727190">
                  <a:extLst>
                    <a:ext uri="{9D8B030D-6E8A-4147-A177-3AD203B41FA5}">
                      <a16:colId xmlns:a16="http://schemas.microsoft.com/office/drawing/2014/main" val="47257246"/>
                    </a:ext>
                  </a:extLst>
                </a:gridCol>
              </a:tblGrid>
              <a:tr h="274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snapshot_date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str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1467468"/>
                  </a:ext>
                </a:extLst>
              </a:tr>
              <a:tr h="261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policy_effective_date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str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0446254"/>
                  </a:ext>
                </a:extLst>
              </a:tr>
              <a:tr h="261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policy_expiration_date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str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9002699"/>
                  </a:ext>
                </a:extLst>
              </a:tr>
              <a:tr h="261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first_claim_reported_date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str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0863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69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24263C7-4994-58EF-5AE5-99EB6CE7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Missing values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634C1505-4803-F73A-CE3C-9B30D3EACD2F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General numeric fields were baseline-imputed to 0</a:t>
            </a:r>
          </a:p>
          <a:p>
            <a:r>
              <a:rPr lang="en-GB" noProof="0" dirty="0" err="1"/>
              <a:t>risk_score_external</a:t>
            </a:r>
            <a:r>
              <a:rPr lang="en-GB" noProof="0" dirty="0"/>
              <a:t> column utilized a more granular approach, imputing missing values with conditional group means based on specific Coverage Type and Business Type cohorts to preserve baseline risk variations</a:t>
            </a:r>
          </a:p>
          <a:p>
            <a:r>
              <a:rPr lang="en-GB" noProof="0" dirty="0"/>
              <a:t>Missing values in </a:t>
            </a:r>
            <a:r>
              <a:rPr lang="en-GB" noProof="0" dirty="0" err="1"/>
              <a:t>payment_frequency</a:t>
            </a:r>
            <a:r>
              <a:rPr lang="en-GB" noProof="0" dirty="0"/>
              <a:t> were explicitly encoded as a distinct 'missing' category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86A8A-857D-E999-8D34-AB0C0A0B5E5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233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CF17-5CFB-CCBD-8206-C3491545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split and outliers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02991F22-0E64-BE62-D5B0-D2DA40BE5A0C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87829" y="1622510"/>
            <a:ext cx="6096000" cy="4155757"/>
          </a:xfrm>
        </p:spPr>
        <p:txBody>
          <a:bodyPr/>
          <a:lstStyle/>
          <a:p>
            <a:r>
              <a:rPr lang="en-GB" noProof="0" dirty="0"/>
              <a:t>Boxplot analysis revealed highly divergent value distributions between Auto Physical Damage (APD) and Auto Liability (AL)</a:t>
            </a:r>
          </a:p>
          <a:p>
            <a:r>
              <a:rPr lang="en-GB" noProof="0" dirty="0"/>
              <a:t>Vehicle count outlier: </a:t>
            </a:r>
          </a:p>
          <a:p>
            <a:pPr lvl="1"/>
            <a:r>
              <a:rPr lang="en-GB" noProof="0" dirty="0"/>
              <a:t>For AL it is possible to have business with 0 vehicles</a:t>
            </a:r>
          </a:p>
          <a:p>
            <a:pPr lvl="1"/>
            <a:r>
              <a:rPr lang="en-GB" noProof="0" dirty="0"/>
              <a:t>For APD it is not possible</a:t>
            </a:r>
          </a:p>
          <a:p>
            <a:pPr lvl="1"/>
            <a:r>
              <a:rPr lang="en-GB" noProof="0" dirty="0"/>
              <a:t>As only 5 rows had </a:t>
            </a:r>
            <a:r>
              <a:rPr lang="en-GB" noProof="0" dirty="0" err="1"/>
              <a:t>vehicle_count</a:t>
            </a:r>
            <a:r>
              <a:rPr lang="en-GB" noProof="0" dirty="0"/>
              <a:t> = 0, so they were removed</a:t>
            </a:r>
          </a:p>
          <a:p>
            <a:r>
              <a:rPr lang="en-GB" noProof="0" dirty="0"/>
              <a:t>Annual premium:</a:t>
            </a:r>
          </a:p>
          <a:p>
            <a:pPr lvl="1"/>
            <a:r>
              <a:rPr lang="en-GB" noProof="0" dirty="0"/>
              <a:t>In a static policy snapshot, negative premiums are anomalies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9A7FE-9903-793C-2C69-DA6A3833012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6</a:t>
            </a:fld>
            <a:endParaRPr lang="en-GB" noProof="0" dirty="0"/>
          </a:p>
        </p:txBody>
      </p:sp>
      <p:pic>
        <p:nvPicPr>
          <p:cNvPr id="7" name="Picture 6" descr="The image displays a bar chart with vehicle counts on the Y-axis and target values on the X-axis, showing a distribution of vehicle counts across different targets.&#10;&#10;AI-generated content may be incorrect.">
            <a:extLst>
              <a:ext uri="{FF2B5EF4-FFF2-40B4-BE49-F238E27FC236}">
                <a16:creationId xmlns:a16="http://schemas.microsoft.com/office/drawing/2014/main" id="{F40A87C6-5E58-B929-2A2A-E0A6D37C2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29" y="633124"/>
            <a:ext cx="5195348" cy="2893847"/>
          </a:xfrm>
          <a:prstGeom prst="rect">
            <a:avLst/>
          </a:prstGeom>
        </p:spPr>
      </p:pic>
      <p:pic>
        <p:nvPicPr>
          <p:cNvPr id="9" name="Picture 8" descr="The graph shows a distribution of annual premiums across various target values, with a range from negative to positive values, including a median premium of $20,000.&#10;&#10;AI-generated content may be incorrect.">
            <a:extLst>
              <a:ext uri="{FF2B5EF4-FFF2-40B4-BE49-F238E27FC236}">
                <a16:creationId xmlns:a16="http://schemas.microsoft.com/office/drawing/2014/main" id="{1D1A211B-F24F-19C3-50FD-9E01476A6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29" y="3591098"/>
            <a:ext cx="5195348" cy="276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4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3738-7EB0-9BBC-3363-BD29F0A3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Mutual Information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1C487A27-937A-7529-35B7-EF59CE1660C9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Mutual Information (MI) analysis mathematically confirmed that the underlying risk drivers for Auto Liability (AL) and Auto Physical Damage (APD) are fundamentally distinct</a:t>
            </a:r>
          </a:p>
          <a:p>
            <a:r>
              <a:rPr lang="en-GB" noProof="0" dirty="0"/>
              <a:t>In AL some features share no individual predictive information (e.g. </a:t>
            </a:r>
            <a:r>
              <a:rPr lang="en-GB" noProof="0" dirty="0" err="1"/>
              <a:t>years_in_business</a:t>
            </a:r>
            <a:r>
              <a:rPr lang="en-GB" noProof="0" dirty="0"/>
              <a:t>, </a:t>
            </a:r>
            <a:r>
              <a:rPr lang="en-GB" noProof="0" dirty="0" err="1"/>
              <a:t>driver_avg_age</a:t>
            </a:r>
            <a:r>
              <a:rPr lang="en-GB" noProof="0" dirty="0"/>
              <a:t>, </a:t>
            </a:r>
            <a:r>
              <a:rPr lang="en-GB" noProof="0" dirty="0" err="1"/>
              <a:t>annual_premium</a:t>
            </a:r>
            <a:r>
              <a:rPr lang="en-GB" noProof="0" dirty="0"/>
              <a:t>). In APD all features retained a non-zero MI score, demonstrating widespread predictive relevance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F66C3-3439-ED88-B804-6743B5F8801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7</a:t>
            </a:fld>
            <a:endParaRPr lang="en-GB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5F2239-369C-96C1-4E45-651E7F988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130811"/>
              </p:ext>
            </p:extLst>
          </p:nvPr>
        </p:nvGraphicFramePr>
        <p:xfrm>
          <a:off x="926194" y="3357975"/>
          <a:ext cx="3275692" cy="3225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5033">
                  <a:extLst>
                    <a:ext uri="{9D8B030D-6E8A-4147-A177-3AD203B41FA5}">
                      <a16:colId xmlns:a16="http://schemas.microsoft.com/office/drawing/2014/main" val="3807741679"/>
                    </a:ext>
                  </a:extLst>
                </a:gridCol>
                <a:gridCol w="710659">
                  <a:extLst>
                    <a:ext uri="{9D8B030D-6E8A-4147-A177-3AD203B41FA5}">
                      <a16:colId xmlns:a16="http://schemas.microsoft.com/office/drawing/2014/main" val="560013753"/>
                    </a:ext>
                  </a:extLst>
                </a:gridCol>
              </a:tblGrid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total_loss_amount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0.304397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854621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claim_paid_amount_current_period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0.304397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2998611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days_to_first_claim_report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0.304330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6121676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vehicle_count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0.008540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1984709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num_heavy_vehicles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0.003795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0097121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risk_score_external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0.003249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994878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prior_year_mileage_000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0.002358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5909922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prior_al_claim_count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0.002245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8398619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driver_count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0.001208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9953749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prior_apd_claim_count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0.001109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3030470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vehicle_avg_age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0.000637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3009723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late_payment_count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0.000551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3601483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coverage_limit_000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0.000380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3929170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prior_loss_amount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0.000099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9432186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years_in_business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5912178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driver_avg_age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1085456"/>
                  </a:ext>
                </a:extLst>
              </a:tr>
              <a:tr h="189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annual_premium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960836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10A50D-E0C2-6905-D531-07917C442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046344"/>
              </p:ext>
            </p:extLst>
          </p:nvPr>
        </p:nvGraphicFramePr>
        <p:xfrm>
          <a:off x="4803548" y="3351260"/>
          <a:ext cx="3036207" cy="323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505">
                  <a:extLst>
                    <a:ext uri="{9D8B030D-6E8A-4147-A177-3AD203B41FA5}">
                      <a16:colId xmlns:a16="http://schemas.microsoft.com/office/drawing/2014/main" val="1134108743"/>
                    </a:ext>
                  </a:extLst>
                </a:gridCol>
                <a:gridCol w="658702">
                  <a:extLst>
                    <a:ext uri="{9D8B030D-6E8A-4147-A177-3AD203B41FA5}">
                      <a16:colId xmlns:a16="http://schemas.microsoft.com/office/drawing/2014/main" val="36549103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total_loss_amount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0.433339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1036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claim_paid_amount_current_period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0.433339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21611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days_to_first_claim_report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0.433273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12161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vehicle_count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0.015298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9999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annual_premium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0.009545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7176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risk_score_external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0.006360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59144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prior_year_mileage_000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0.005316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22928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prior_apd_claim_count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0.004987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62676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prior_loss_amount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0.004906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1712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driver_avg_age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0.002754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6848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num_heavy_vehicles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0.002381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12361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vehicle_avg_age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0.002256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0946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years_in_business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0.001571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39928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late_payment_count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0.000613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8970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driver_count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0.000604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39580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 err="1">
                          <a:effectLst/>
                        </a:rPr>
                        <a:t>prior_al_claim_count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0.000402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3443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coverage_limit_000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0.000137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957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92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A319-C289-0949-AE7D-9B49EF0D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Categorical columns impact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9A95C93-7979-B862-0C9C-F164CF8278E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Exploratory analysis revealed significant variance in historical claim frequencies across different categorical levels</a:t>
            </a:r>
          </a:p>
          <a:p>
            <a:r>
              <a:rPr lang="en-GB" noProof="0" dirty="0"/>
              <a:t>This divergence mathematically indicates that these categorical attributes hold strong predictive signals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48398-BD67-C452-F08C-3E7F36364E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8</a:t>
            </a:fld>
            <a:endParaRPr lang="en-GB" noProof="0" dirty="0"/>
          </a:p>
        </p:txBody>
      </p:sp>
      <p:pic>
        <p:nvPicPr>
          <p:cNvPr id="7" name="Picture 6" descr="The image shows a bar chart comparing the claim frequency (risk rates) for various business types under an All-Payer Demonstration (APD) program, with agriculture being one of the listed categories.&#10;&#10;AI-generated content may be incorrect.">
            <a:extLst>
              <a:ext uri="{FF2B5EF4-FFF2-40B4-BE49-F238E27FC236}">
                <a16:creationId xmlns:a16="http://schemas.microsoft.com/office/drawing/2014/main" id="{81F3B0F7-F848-44EA-08AF-FFDB662D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39" y="3113958"/>
            <a:ext cx="5694985" cy="3096239"/>
          </a:xfrm>
          <a:prstGeom prst="rect">
            <a:avLst/>
          </a:prstGeom>
        </p:spPr>
      </p:pic>
      <p:pic>
        <p:nvPicPr>
          <p:cNvPr id="9" name="Picture 8" descr="The diagram shows a bar chart indicating that the risk rate of claim frequency decreases as the payment frequency increases, with the lowest risk associated with annual payments.&#10;&#10;AI-generated content may be incorrect.">
            <a:extLst>
              <a:ext uri="{FF2B5EF4-FFF2-40B4-BE49-F238E27FC236}">
                <a16:creationId xmlns:a16="http://schemas.microsoft.com/office/drawing/2014/main" id="{7B45D0DC-6CFE-BDD4-7D6E-37658602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815" y="3113958"/>
            <a:ext cx="5694986" cy="310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6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C8D1-7324-954E-DEB2-3AE8E75E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Omitted features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2114985-D523-E399-A41E-811C4BF8256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Following features were omitted:</a:t>
            </a:r>
          </a:p>
          <a:p>
            <a:pPr lvl="1"/>
            <a:r>
              <a:rPr lang="en-GB" noProof="0" dirty="0" err="1"/>
              <a:t>driver_average_age</a:t>
            </a:r>
            <a:r>
              <a:rPr lang="en-GB" noProof="0" dirty="0"/>
              <a:t> and </a:t>
            </a:r>
            <a:r>
              <a:rPr lang="en-GB" noProof="0" dirty="0" err="1"/>
              <a:t>annual_premium</a:t>
            </a:r>
            <a:r>
              <a:rPr lang="en-GB" noProof="0" dirty="0"/>
              <a:t> for AL coverage</a:t>
            </a:r>
          </a:p>
          <a:p>
            <a:pPr lvl="1"/>
            <a:r>
              <a:rPr lang="en-GB" noProof="0" dirty="0" err="1"/>
              <a:t>claim_status</a:t>
            </a:r>
            <a:endParaRPr lang="en-GB" noProof="0" dirty="0"/>
          </a:p>
          <a:p>
            <a:pPr lvl="1"/>
            <a:r>
              <a:rPr lang="en-GB" noProof="0" dirty="0" err="1"/>
              <a:t>has_safety_program</a:t>
            </a:r>
            <a:endParaRPr lang="en-GB" noProof="0" dirty="0"/>
          </a:p>
          <a:p>
            <a:pPr lvl="1"/>
            <a:r>
              <a:rPr lang="en-GB" noProof="0" dirty="0" err="1"/>
              <a:t>claim_paid_amount_current_period</a:t>
            </a:r>
            <a:r>
              <a:rPr lang="en-GB" noProof="0" dirty="0"/>
              <a:t> and </a:t>
            </a:r>
            <a:r>
              <a:rPr lang="en-GB" noProof="0" dirty="0" err="1"/>
              <a:t>days_to_first_claim_report</a:t>
            </a: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EF3BB-0CEB-E105-BA47-E514277DCA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39697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48DA5CE-FB08-7675-1EDE-9278E66D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Modelling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C022790-0777-70FD-599C-16FF0933303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15" name="Picture Placeholder 14" descr="The image depicts a vibrant digital network of interconnected nodes, each represented by a string of binary code, creating a dynamic and colorful web of data.&#10;&#10;AI-generated content may be incorrect.">
            <a:extLst>
              <a:ext uri="{FF2B5EF4-FFF2-40B4-BE49-F238E27FC236}">
                <a16:creationId xmlns:a16="http://schemas.microsoft.com/office/drawing/2014/main" id="{F1696D24-956D-9F81-CB5B-1C87BC632B1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998" r="2998"/>
          <a:stretch/>
        </p:blipFill>
        <p:spPr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BD65C-2915-CDCF-65A9-5BC7346F916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05910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37A328-9225-6FCB-7BD5-B968EF39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Improvements for model performance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FD393B6-29A8-F8EB-58D5-08134659E8DE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Split the data into separate Auto Liability (AL) and Auto Physical Damage (APD) subsets to let the algorithms isolate their fundamentally different risk drivers</a:t>
            </a:r>
          </a:p>
          <a:p>
            <a:r>
              <a:rPr lang="en-GB" noProof="0" dirty="0"/>
              <a:t>Omitted business-impossible entries (negative premiums, zero vehicles in APD) and applied conditional cohort-mean imputations to protect baseline risk signals</a:t>
            </a:r>
          </a:p>
          <a:p>
            <a:r>
              <a:rPr lang="en-GB" noProof="0" dirty="0"/>
              <a:t>Dropped retrospective, post-loss operational metrics to ensure the model only uses data available at "time-zero" underwriting</a:t>
            </a:r>
          </a:p>
          <a:p>
            <a:r>
              <a:rPr lang="en-GB" noProof="0" dirty="0"/>
              <a:t>Replaced standard random splitting with a chronological partition (2019–2021 Train / 2022 Test)</a:t>
            </a:r>
          </a:p>
          <a:p>
            <a:r>
              <a:rPr lang="en-GB" noProof="0" dirty="0"/>
              <a:t>Feature standardization</a:t>
            </a:r>
          </a:p>
          <a:p>
            <a:r>
              <a:rPr lang="en-GB" noProof="0" dirty="0"/>
              <a:t>Encoding of categorical columns</a:t>
            </a:r>
          </a:p>
          <a:p>
            <a:r>
              <a:rPr lang="en-GB" noProof="0" dirty="0"/>
              <a:t>Hyperparameter tunning</a:t>
            </a:r>
          </a:p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DE787-99A2-F9CC-F092-1BE954C2854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5151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3088-42A8-574D-EF27-59B22474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Model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8E009-6FAA-738D-7F50-5994C56B86D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12</a:t>
            </a:fld>
            <a:endParaRPr lang="en-GB" noProof="0" dirty="0"/>
          </a:p>
        </p:txBody>
      </p:sp>
      <p:pic>
        <p:nvPicPr>
          <p:cNvPr id="7" name="Picture 6" descr="The image displays a bar chart comparing the number of samples (1000) with a range of true labels (400, 69, 90) and predicted labels (620, -800, -200), showing discrepancies between them.&#10;&#10;AI-generated content may be incorrect.">
            <a:extLst>
              <a:ext uri="{FF2B5EF4-FFF2-40B4-BE49-F238E27FC236}">
                <a16:creationId xmlns:a16="http://schemas.microsoft.com/office/drawing/2014/main" id="{D68FC460-0D8A-A909-C584-D82E80BA6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78" y="1366837"/>
            <a:ext cx="3696410" cy="3095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D7186-1344-BBC3-2893-AA2685699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4239" y="1386760"/>
            <a:ext cx="3632062" cy="305599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3EF3D1A-B132-159E-A575-AFCEA5F66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53571"/>
              </p:ext>
            </p:extLst>
          </p:nvPr>
        </p:nvGraphicFramePr>
        <p:xfrm>
          <a:off x="587829" y="4916540"/>
          <a:ext cx="3632063" cy="1434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8615">
                  <a:extLst>
                    <a:ext uri="{9D8B030D-6E8A-4147-A177-3AD203B41FA5}">
                      <a16:colId xmlns:a16="http://schemas.microsoft.com/office/drawing/2014/main" val="1701459627"/>
                    </a:ext>
                  </a:extLst>
                </a:gridCol>
                <a:gridCol w="678362">
                  <a:extLst>
                    <a:ext uri="{9D8B030D-6E8A-4147-A177-3AD203B41FA5}">
                      <a16:colId xmlns:a16="http://schemas.microsoft.com/office/drawing/2014/main" val="853741141"/>
                    </a:ext>
                  </a:extLst>
                </a:gridCol>
                <a:gridCol w="678362">
                  <a:extLst>
                    <a:ext uri="{9D8B030D-6E8A-4147-A177-3AD203B41FA5}">
                      <a16:colId xmlns:a16="http://schemas.microsoft.com/office/drawing/2014/main" val="155114564"/>
                    </a:ext>
                  </a:extLst>
                </a:gridCol>
                <a:gridCol w="678362">
                  <a:extLst>
                    <a:ext uri="{9D8B030D-6E8A-4147-A177-3AD203B41FA5}">
                      <a16:colId xmlns:a16="http://schemas.microsoft.com/office/drawing/2014/main" val="1631855379"/>
                    </a:ext>
                  </a:extLst>
                </a:gridCol>
                <a:gridCol w="678362">
                  <a:extLst>
                    <a:ext uri="{9D8B030D-6E8A-4147-A177-3AD203B41FA5}">
                      <a16:colId xmlns:a16="http://schemas.microsoft.com/office/drawing/2014/main" val="4160425969"/>
                    </a:ext>
                  </a:extLst>
                </a:gridCol>
              </a:tblGrid>
              <a:tr h="2469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Class/Metric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precision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recall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f1-score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support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8983025"/>
                  </a:ext>
                </a:extLst>
              </a:tr>
              <a:tr h="2351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0.94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0.76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1721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293351"/>
                  </a:ext>
                </a:extLst>
              </a:tr>
              <a:tr h="2351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0.13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0.57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0.21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159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523"/>
                  </a:ext>
                </a:extLst>
              </a:tr>
              <a:tr h="2351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accuracy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 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 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1880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8954976"/>
                  </a:ext>
                </a:extLst>
              </a:tr>
              <a:tr h="2351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macro avg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0.53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0.48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1880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395091"/>
                  </a:ext>
                </a:extLst>
              </a:tr>
              <a:tr h="2469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weighted avg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0.87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0.71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1880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82659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972869-8C3A-7B62-CACA-8E9D703C2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99892"/>
              </p:ext>
            </p:extLst>
          </p:nvPr>
        </p:nvGraphicFramePr>
        <p:xfrm>
          <a:off x="4739448" y="4896662"/>
          <a:ext cx="3738632" cy="1454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568">
                  <a:extLst>
                    <a:ext uri="{9D8B030D-6E8A-4147-A177-3AD203B41FA5}">
                      <a16:colId xmlns:a16="http://schemas.microsoft.com/office/drawing/2014/main" val="984679727"/>
                    </a:ext>
                  </a:extLst>
                </a:gridCol>
                <a:gridCol w="698266">
                  <a:extLst>
                    <a:ext uri="{9D8B030D-6E8A-4147-A177-3AD203B41FA5}">
                      <a16:colId xmlns:a16="http://schemas.microsoft.com/office/drawing/2014/main" val="1323579153"/>
                    </a:ext>
                  </a:extLst>
                </a:gridCol>
                <a:gridCol w="698266">
                  <a:extLst>
                    <a:ext uri="{9D8B030D-6E8A-4147-A177-3AD203B41FA5}">
                      <a16:colId xmlns:a16="http://schemas.microsoft.com/office/drawing/2014/main" val="3234822450"/>
                    </a:ext>
                  </a:extLst>
                </a:gridCol>
                <a:gridCol w="698266">
                  <a:extLst>
                    <a:ext uri="{9D8B030D-6E8A-4147-A177-3AD203B41FA5}">
                      <a16:colId xmlns:a16="http://schemas.microsoft.com/office/drawing/2014/main" val="3456529457"/>
                    </a:ext>
                  </a:extLst>
                </a:gridCol>
                <a:gridCol w="698266">
                  <a:extLst>
                    <a:ext uri="{9D8B030D-6E8A-4147-A177-3AD203B41FA5}">
                      <a16:colId xmlns:a16="http://schemas.microsoft.com/office/drawing/2014/main" val="1316050013"/>
                    </a:ext>
                  </a:extLst>
                </a:gridCol>
              </a:tblGrid>
              <a:tr h="250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Class/Metric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precision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recall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f1-score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support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6023721"/>
                  </a:ext>
                </a:extLst>
              </a:tr>
              <a:tr h="2384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0.89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</a:t>
                      </a:r>
                      <a:r>
                        <a:rPr lang="sk-SK" sz="1100" u="none" strike="noStrike" noProof="0" dirty="0">
                          <a:effectLst/>
                        </a:rPr>
                        <a:t>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0.7</a:t>
                      </a:r>
                      <a:r>
                        <a:rPr lang="sk-SK" sz="1100" u="none" strike="noStrike" noProof="0" dirty="0">
                          <a:effectLst/>
                        </a:rPr>
                        <a:t>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1595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499153"/>
                  </a:ext>
                </a:extLst>
              </a:tr>
              <a:tr h="2384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0.23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0.60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0.33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296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4680549"/>
                  </a:ext>
                </a:extLst>
              </a:tr>
              <a:tr h="238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accuracy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 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 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</a:t>
                      </a:r>
                      <a:r>
                        <a:rPr lang="sk-SK" sz="1100" u="none" strike="noStrike" noProof="0" dirty="0">
                          <a:effectLst/>
                        </a:rPr>
                        <a:t>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1891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1609196"/>
                  </a:ext>
                </a:extLst>
              </a:tr>
              <a:tr h="238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macro avg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0.56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0.5</a:t>
                      </a:r>
                      <a:r>
                        <a:rPr lang="sk-SK" sz="1100" u="none" strike="noStrike" noProof="0" dirty="0">
                          <a:effectLst/>
                        </a:rPr>
                        <a:t>4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1891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0267026"/>
                  </a:ext>
                </a:extLst>
              </a:tr>
              <a:tr h="2503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weighted avg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0.79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</a:t>
                      </a:r>
                      <a:r>
                        <a:rPr lang="sk-SK" sz="1100" u="none" strike="noStrike" noProof="0" dirty="0">
                          <a:effectLst/>
                        </a:rPr>
                        <a:t>3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0.6</a:t>
                      </a:r>
                      <a:r>
                        <a:rPr lang="sk-SK" sz="1100" u="none" strike="noStrike" noProof="0" dirty="0">
                          <a:effectLst/>
                        </a:rPr>
                        <a:t>8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noProof="0" dirty="0">
                          <a:effectLst/>
                        </a:rPr>
                        <a:t>1891</a:t>
                      </a:r>
                      <a:endParaRPr lang="en-GB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350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021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C3AD4E-FEB2-D18C-C63C-1F288191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Production readiness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4B86BE-1CDC-60DB-97D9-5E8B644573F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10" name="Picture Placeholder 9" descr="The image depicts a checklist with checkboxes, emphasizing a completed task or verification.&#10;&#10;AI-generated content may be incorrect.">
            <a:extLst>
              <a:ext uri="{FF2B5EF4-FFF2-40B4-BE49-F238E27FC236}">
                <a16:creationId xmlns:a16="http://schemas.microsoft.com/office/drawing/2014/main" id="{4BC36EFB-BC54-3813-D082-2EC099787DE2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l="2998" r="2998"/>
          <a:stretch/>
        </p:blipFill>
        <p:spPr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B526A-E014-C968-BBBF-C6C383E3B27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032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B660-C5A4-6969-FAF1-A5F64872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Production improvements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E3D66-4A42-A794-95FF-2404FBC5B17C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Splitted data preparation + model training and scoring into 2 separate notebooks</a:t>
            </a:r>
          </a:p>
          <a:p>
            <a:r>
              <a:rPr lang="en-GB" noProof="0" dirty="0"/>
              <a:t>Configured the categorical encoder to cleanly process unseen categories</a:t>
            </a:r>
          </a:p>
          <a:p>
            <a:r>
              <a:rPr lang="en-GB" noProof="0" dirty="0"/>
              <a:t>Consolidated standardization, encoding, hyperparameter optimalization into a unified Scikit-Learn Pipeline to ensure identical data transformations across both training and scoring periods.</a:t>
            </a:r>
          </a:p>
          <a:p>
            <a:r>
              <a:rPr lang="en-GB" noProof="0" dirty="0"/>
              <a:t>Implemented model persistence (saving the trained model artifact) to facilitate instant, low-compute scoring of the 2023–2024 portfolio without re-triggering the training phase</a:t>
            </a:r>
          </a:p>
          <a:p>
            <a:r>
              <a:rPr lang="en-GB" noProof="0" dirty="0"/>
              <a:t>Shifted downstream delivery from rigid binary classes to continuous probability scores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96274-0AE5-2CF8-D4B7-5E5281CA717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759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C26B-7900-6E43-CBEF-F17A95E1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Databricks implementation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330824-C5A7-E08E-ECCB-95D2A1FF1D58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Designed simple Job flow in Databricks</a:t>
            </a:r>
          </a:p>
          <a:p>
            <a:pPr lvl="1"/>
            <a:r>
              <a:rPr lang="en-GB" noProof="0" dirty="0"/>
              <a:t>Task 1: Executes automated data preparation, isolates coverages (AL vs. APD), trains optimal regularized models, and securely serializes the final model artifacts to storage</a:t>
            </a:r>
          </a:p>
          <a:p>
            <a:pPr lvl="1"/>
            <a:r>
              <a:rPr lang="en-GB" noProof="0" dirty="0"/>
              <a:t>Task 2: Automatically triggers only upon the successful completion of Task 1, pulling the frozen model binary to instantly score the unseen 2023–2024 portfolio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1916F-0F61-2449-EDE9-EFB8EF08DD1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15</a:t>
            </a:fld>
            <a:endParaRPr lang="en-GB" noProof="0" dirty="0"/>
          </a:p>
        </p:txBody>
      </p:sp>
      <p:pic>
        <p:nvPicPr>
          <p:cNvPr id="7" name="Picture 6" descr="The image shows a user interface for a project management tool, specifically a case study dashboard with various tasks listed, including data preparation, modeling, scoring, and serverless tasks, along with an option to add new tasks.&#10;&#10;AI-generated content may be incorrect.">
            <a:extLst>
              <a:ext uri="{FF2B5EF4-FFF2-40B4-BE49-F238E27FC236}">
                <a16:creationId xmlns:a16="http://schemas.microsoft.com/office/drawing/2014/main" id="{4E32075E-915B-0120-7787-731209DA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116" y="3540016"/>
            <a:ext cx="7391399" cy="312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6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F70A-DE40-3A02-2656-52D76503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Production readiness roadmap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EA00860-931B-E4DE-7FCB-CD823240A63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noProof="0" dirty="0"/>
              <a:t>Model validation </a:t>
            </a:r>
            <a:r>
              <a:rPr lang="sk-SK" noProof="0" dirty="0"/>
              <a:t>and</a:t>
            </a:r>
            <a:r>
              <a:rPr lang="en-GB" noProof="0" dirty="0"/>
              <a:t> governance (before any deployment decision)</a:t>
            </a:r>
            <a:endParaRPr lang="sk-SK" noProof="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Staged deployment</a:t>
            </a:r>
            <a:endParaRPr lang="sk-SK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Register approved APD and AL models</a:t>
            </a:r>
            <a:endParaRPr lang="sk-SK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Run in </a:t>
            </a:r>
            <a:r>
              <a:rPr lang="en-GB" b="1" dirty="0"/>
              <a:t>shadow mode</a:t>
            </a:r>
            <a:r>
              <a:rPr lang="en-GB" dirty="0"/>
              <a:t> first: score live policies silently, log predictions, compare against actual outcomes</a:t>
            </a:r>
            <a:endParaRPr lang="sk-SK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Define a </a:t>
            </a:r>
            <a:r>
              <a:rPr lang="en-GB" b="1" dirty="0"/>
              <a:t>human-in-the-loop override</a:t>
            </a:r>
            <a:r>
              <a:rPr lang="en-GB" dirty="0"/>
              <a:t>: underwriters can flag, question, or override a score</a:t>
            </a:r>
            <a:endParaRPr lang="sk-SK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Live integration</a:t>
            </a:r>
            <a:endParaRPr lang="sk-SK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Ongoing monitoring</a:t>
            </a:r>
            <a:endParaRPr lang="sk-SK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Retraining cadence</a:t>
            </a:r>
            <a:endParaRPr lang="sk-SK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Define a retraining trigger: time-based (e.g., annual, aligned to policy year) and/or performance-based</a:t>
            </a:r>
            <a:endParaRPr lang="sk-SK" dirty="0"/>
          </a:p>
          <a:p>
            <a:pPr marL="457200" indent="-457200">
              <a:buFont typeface="+mj-lt"/>
              <a:buAutoNum type="arabicPeriod"/>
            </a:pPr>
            <a:endParaRPr lang="sk-S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1BBD2-2B48-4344-8635-14A5E91B257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62801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DFCE9AD-A394-DAEC-9E4A-E5833C90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9052260-5405-EC3A-C1BE-7BEA85E9EA5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13" name="Picture Placeholder 12" descr="An illustration of a man writing on a computer keyboard, with a document open on the screen.&#10;&#10;AI-generated content may be incorrect.">
            <a:extLst>
              <a:ext uri="{FF2B5EF4-FFF2-40B4-BE49-F238E27FC236}">
                <a16:creationId xmlns:a16="http://schemas.microsoft.com/office/drawing/2014/main" id="{3FD02EC9-4D98-F838-B20A-E22BA55D22BD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 l="2998" r="2998"/>
          <a:stretch/>
        </p:blipFill>
        <p:spPr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0DBEE-5775-480C-E073-B023D08018D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77416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A0A8BB-CA7B-7C46-7ACC-2C1AC2B8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New concepts learned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DF7518AF-18CA-2D70-BDEE-D496B1809B68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noProof="0" dirty="0"/>
              <a:t>Insurance data specifics</a:t>
            </a:r>
          </a:p>
          <a:p>
            <a:r>
              <a:rPr lang="en-GB" noProof="0" dirty="0"/>
              <a:t>Scikit-learn pipeline building and implementation</a:t>
            </a:r>
          </a:p>
          <a:p>
            <a:r>
              <a:rPr lang="en-GB" noProof="0" dirty="0"/>
              <a:t>New approach to standardization (Robust scaler)</a:t>
            </a:r>
          </a:p>
          <a:p>
            <a:r>
              <a:rPr lang="en-GB" noProof="0" dirty="0"/>
              <a:t>New approach to encoding (Target encoding)</a:t>
            </a:r>
          </a:p>
          <a:p>
            <a:r>
              <a:rPr lang="en-GB" noProof="0" dirty="0"/>
              <a:t>Preserving trained model</a:t>
            </a:r>
          </a:p>
          <a:p>
            <a:r>
              <a:rPr lang="en-GB" noProof="0" dirty="0"/>
              <a:t>ML model lifecycle</a:t>
            </a:r>
          </a:p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0FD56-8382-0454-1DC0-EA800058D0C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1333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3826-2D90-6DB7-227D-7C8AF2ED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AI tools used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AEEB70F-A5F5-6F19-71F7-A0A8415D20B2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r>
              <a:rPr lang="en-GB" b="1" noProof="0" dirty="0"/>
              <a:t>GitHub Copilot</a:t>
            </a:r>
            <a:r>
              <a:rPr lang="en-GB" noProof="0" dirty="0"/>
              <a:t> for code suggestion</a:t>
            </a:r>
          </a:p>
          <a:p>
            <a:r>
              <a:rPr lang="en-GB" b="1" noProof="0" dirty="0"/>
              <a:t>Gemini</a:t>
            </a:r>
            <a:r>
              <a:rPr lang="en-GB" noProof="0" dirty="0"/>
              <a:t> and </a:t>
            </a:r>
            <a:r>
              <a:rPr lang="en-GB" b="1" noProof="0" dirty="0"/>
              <a:t>Claude</a:t>
            </a:r>
            <a:r>
              <a:rPr lang="en-GB" noProof="0" dirty="0"/>
              <a:t> for </a:t>
            </a:r>
            <a:r>
              <a:rPr lang="en-GB" noProof="0" dirty="0" err="1"/>
              <a:t>reseach</a:t>
            </a:r>
            <a:r>
              <a:rPr lang="en-GB" noProof="0" dirty="0"/>
              <a:t> of ideas, approaches and for text polishing and rewriting</a:t>
            </a:r>
          </a:p>
          <a:p>
            <a:r>
              <a:rPr lang="en-GB" b="1" noProof="0" dirty="0"/>
              <a:t>Gemini</a:t>
            </a:r>
            <a:r>
              <a:rPr lang="en-GB" noProof="0" dirty="0"/>
              <a:t> for code debugging and code assistance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58BE1-C824-7F92-E7CA-10448BFE7BC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 noProof="0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BE73A-023E-0B06-5B7F-4FE00D3B815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GB" noProof="0" smtClean="0"/>
              <a:pPr/>
              <a:t>19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3361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Thank you for your attention</a:t>
            </a:r>
          </a:p>
        </p:txBody>
      </p:sp>
      <p:pic>
        <p:nvPicPr>
          <p:cNvPr id="22" name="Picture Placeholder 21" descr="The image depicts a red car with documents related to car insurance, including terms like collision, comprehensive, and liability insurance.&#10;&#10;AI-generated content may be incorrect.">
            <a:extLst>
              <a:ext uri="{FF2B5EF4-FFF2-40B4-BE49-F238E27FC236}">
                <a16:creationId xmlns:a16="http://schemas.microsoft.com/office/drawing/2014/main" id="{916947BF-02E0-387D-0DEA-DC4D740F0CA0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3"/>
          <a:srcRect l="14099" r="14099"/>
          <a:stretch/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20" name="Picture Placeholder 19" descr="The image depicts a human brain superimposed with digital circuitry and computer interface elements, symbolizing the intersection of biology and technology.&#10;&#10;AI-generated content may be incorrect.">
            <a:extLst>
              <a:ext uri="{FF2B5EF4-FFF2-40B4-BE49-F238E27FC236}">
                <a16:creationId xmlns:a16="http://schemas.microsoft.com/office/drawing/2014/main" id="{13DF88EC-31A9-F379-F640-622C687842C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4"/>
          <a:srcRect l="12106" r="12106"/>
          <a:stretch/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7E9DCEC-A7EE-FEF9-8A3A-EC55BFFAFB1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5"/>
          <a:srcRect t="6019" b="6019"/>
          <a:stretch/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13" name="Picture Placeholder 12" descr="The image depicts a human head silhouette with various technical symbols and mathematical notations, suggesting a focus on machine learning concepts.&#10;&#10;AI-generated content may be incorrect.">
            <a:extLst>
              <a:ext uri="{FF2B5EF4-FFF2-40B4-BE49-F238E27FC236}">
                <a16:creationId xmlns:a16="http://schemas.microsoft.com/office/drawing/2014/main" id="{8878E188-140E-A0E7-B8BF-9A78BCCBE8F1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6"/>
          <a:srcRect l="12773" r="12773"/>
          <a:stretch/>
        </p:blipFill>
        <p:spPr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402</TotalTime>
  <Words>1861</Words>
  <Application>Microsoft Office PowerPoint</Application>
  <PresentationFormat>Widescreen</PresentationFormat>
  <Paragraphs>279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等线</vt:lpstr>
      <vt:lpstr>Abadi</vt:lpstr>
      <vt:lpstr>Aptos Narrow</vt:lpstr>
      <vt:lpstr>Arial</vt:lpstr>
      <vt:lpstr>Calibri</vt:lpstr>
      <vt:lpstr>Posterama Text Black</vt:lpstr>
      <vt:lpstr>Posterama Text SemiBold</vt:lpstr>
      <vt:lpstr>Custom​​</vt:lpstr>
      <vt:lpstr>Commercial Auto Risk Scoring Case Study</vt:lpstr>
      <vt:lpstr>Agenda</vt:lpstr>
      <vt:lpstr>EDA</vt:lpstr>
      <vt:lpstr>Data types</vt:lpstr>
      <vt:lpstr>Missing values</vt:lpstr>
      <vt:lpstr>Data split and outliers</vt:lpstr>
      <vt:lpstr>Mutual Information</vt:lpstr>
      <vt:lpstr>Categorical columns impact</vt:lpstr>
      <vt:lpstr>Omitted features</vt:lpstr>
      <vt:lpstr>Modelling</vt:lpstr>
      <vt:lpstr>Improvements for model performance</vt:lpstr>
      <vt:lpstr>Model results</vt:lpstr>
      <vt:lpstr>Production readiness</vt:lpstr>
      <vt:lpstr>Production improvements</vt:lpstr>
      <vt:lpstr>Databricks implementation</vt:lpstr>
      <vt:lpstr>Production readiness roadmap</vt:lpstr>
      <vt:lpstr>Summary</vt:lpstr>
      <vt:lpstr>New concepts learned</vt:lpstr>
      <vt:lpstr>AI tools used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Šenkery Andrej</dc:creator>
  <cp:lastModifiedBy>Šenkery Andrej</cp:lastModifiedBy>
  <cp:revision>22</cp:revision>
  <dcterms:created xsi:type="dcterms:W3CDTF">2026-07-19T10:14:33Z</dcterms:created>
  <dcterms:modified xsi:type="dcterms:W3CDTF">2026-07-19T17:47:39Z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